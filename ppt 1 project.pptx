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bi.com/?utm_source=chatgpt.com" TargetMode="External"/><Relationship Id="rId2" Type="http://schemas.openxmlformats.org/officeDocument/2006/relationships/hyperlink" Target="https://dax.guide/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Financial Performance and Cash Flow Analysis of Tata Motors Using Microsoft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Syeda Nasreen Minaaz</a:t>
            </a:r>
          </a:p>
          <a:p>
            <a:r>
              <a:t>Enrollment No: O24MSD110213</a:t>
            </a:r>
          </a:p>
          <a:p>
            <a:r>
              <a:t>MSc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Business Intelligence (BI) has become an essential tool for organizations seeking to make data-driven decisions. Modern businesses generate large volumes of data that require effective analysis and visualization to support strategic planning and performance monitoring.</a:t>
            </a:r>
          </a:p>
          <a:p>
            <a:r>
              <a:rPr lang="en-IN" dirty="0"/>
              <a:t>Microsoft Power BI is a powerful Business Intelligence platform that enables users to collect, transform, </a:t>
            </a:r>
            <a:r>
              <a:rPr lang="en-IN" dirty="0" err="1"/>
              <a:t>analyze</a:t>
            </a:r>
            <a:r>
              <a:rPr lang="en-IN" dirty="0"/>
              <a:t>, and visualize data through interactive dashboards and reports. It helps organizations convert complex datasets into meaningful insights.</a:t>
            </a:r>
          </a:p>
          <a:p>
            <a:r>
              <a:rPr lang="en-IN" dirty="0"/>
              <a:t>This project focuses on </a:t>
            </a:r>
            <a:r>
              <a:rPr lang="en-IN" dirty="0" err="1"/>
              <a:t>analyzing</a:t>
            </a:r>
            <a:r>
              <a:rPr lang="en-IN" dirty="0"/>
              <a:t> the financial performance of Tata Motors using Microsoft Power BI. Financial indicators such as revenue, net profit, operating cash flow, total assets, and employee growth are </a:t>
            </a:r>
            <a:r>
              <a:rPr lang="en-IN" dirty="0" err="1"/>
              <a:t>analyzed</a:t>
            </a:r>
            <a:r>
              <a:rPr lang="en-IN" dirty="0"/>
              <a:t> to evaluate the company's performance over multiple financial years.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Traditional financial reporting methods rely heavily on spreadsheets and static reports, making data analysis time-consuming and difficult to interpret. Large volumes of financial information often require manual calculations and extensive review, which can delay decision-making and increase the risk of errors.</a:t>
            </a:r>
          </a:p>
          <a:p>
            <a:r>
              <a:rPr lang="en-IN" dirty="0"/>
              <a:t>There is a need for an interactive and visual reporting solution that can simplify financial analysis, improve reporting efficiency, and provide actionable business insights.</a:t>
            </a:r>
          </a:p>
          <a:p>
            <a:r>
              <a:rPr lang="en-IN" dirty="0"/>
              <a:t>The proposed solution uses Microsoft Power BI to transform Tata Motors' financial data into dynamic dashboards that support better financial analysis and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Project Objectives</a:t>
            </a:r>
          </a:p>
          <a:p>
            <a:r>
              <a:rPr lang="en-IN" dirty="0" err="1"/>
              <a:t>Analyze</a:t>
            </a:r>
            <a:r>
              <a:rPr lang="en-IN" dirty="0"/>
              <a:t> Tata Motors' financial performance using Microsoft Power BI. </a:t>
            </a:r>
          </a:p>
          <a:p>
            <a:r>
              <a:rPr lang="en-IN" dirty="0"/>
              <a:t>Evaluate revenue growth trends across multiple financial years. </a:t>
            </a:r>
          </a:p>
          <a:p>
            <a:r>
              <a:rPr lang="en-IN" dirty="0" err="1"/>
              <a:t>Analyze</a:t>
            </a:r>
            <a:r>
              <a:rPr lang="en-IN" dirty="0"/>
              <a:t> net profit and profitability performance. </a:t>
            </a:r>
          </a:p>
          <a:p>
            <a:r>
              <a:rPr lang="en-IN" dirty="0"/>
              <a:t>Examine operating cash flow patterns. </a:t>
            </a:r>
          </a:p>
          <a:p>
            <a:r>
              <a:rPr lang="en-IN" dirty="0"/>
              <a:t>Assess asset growth and organizational expansion. </a:t>
            </a:r>
          </a:p>
          <a:p>
            <a:r>
              <a:rPr lang="en-IN" dirty="0"/>
              <a:t>Monitor employee growth trends. </a:t>
            </a:r>
          </a:p>
          <a:p>
            <a:r>
              <a:rPr lang="en-IN" dirty="0"/>
              <a:t>Create interactive dashboards and visual reports. </a:t>
            </a:r>
          </a:p>
          <a:p>
            <a:r>
              <a:rPr lang="en-IN" dirty="0"/>
              <a:t>Demonstrate the practical application of Business Intelligence tools. </a:t>
            </a:r>
          </a:p>
          <a:p>
            <a:r>
              <a:rPr lang="en-IN" dirty="0"/>
              <a:t>Support data-driven decision-making through visual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Company Overview - Tata Motors</a:t>
            </a:r>
          </a:p>
          <a:p>
            <a:r>
              <a:rPr lang="en-IN" dirty="0"/>
              <a:t>Tata Motors Limited is one of India's largest automobile manufacturers and a flagship company of the Tata Group. Established in 1945, the company has grown into a global automotive organization with operations in passenger vehicles, commercial vehicles, electric vehicles, and luxury automobiles.</a:t>
            </a:r>
          </a:p>
          <a:p>
            <a:r>
              <a:rPr lang="en-IN" b="1" dirty="0"/>
              <a:t>Key Highlights</a:t>
            </a:r>
          </a:p>
          <a:p>
            <a:r>
              <a:rPr lang="en-IN" dirty="0"/>
              <a:t>Founded: 1945 </a:t>
            </a:r>
          </a:p>
          <a:p>
            <a:r>
              <a:rPr lang="en-IN" dirty="0"/>
              <a:t>Headquarters: Mumbai, India </a:t>
            </a:r>
          </a:p>
          <a:p>
            <a:r>
              <a:rPr lang="en-IN" dirty="0"/>
              <a:t>Parent Group: Tata Group </a:t>
            </a:r>
          </a:p>
          <a:p>
            <a:r>
              <a:rPr lang="en-IN" dirty="0"/>
              <a:t>Industry: Automotive Manufacturing </a:t>
            </a:r>
          </a:p>
          <a:p>
            <a:r>
              <a:rPr lang="en-IN" dirty="0"/>
              <a:t>Global Presence: Over 125 countries </a:t>
            </a:r>
          </a:p>
          <a:p>
            <a:r>
              <a:rPr lang="en-IN" dirty="0"/>
              <a:t>Major Brands: Tata Motors, Jaguar Land Rover (JLR) </a:t>
            </a:r>
          </a:p>
          <a:p>
            <a:r>
              <a:rPr lang="en-IN" b="1" dirty="0"/>
              <a:t>Business Segments</a:t>
            </a:r>
          </a:p>
          <a:p>
            <a:r>
              <a:rPr lang="en-IN" dirty="0"/>
              <a:t>Passenger Vehicles </a:t>
            </a:r>
          </a:p>
          <a:p>
            <a:r>
              <a:rPr lang="en-IN" dirty="0"/>
              <a:t>Commercial Vehicles </a:t>
            </a:r>
          </a:p>
          <a:p>
            <a:r>
              <a:rPr lang="en-IN" dirty="0"/>
              <a:t>Electric Vehicles </a:t>
            </a:r>
          </a:p>
          <a:p>
            <a:r>
              <a:rPr lang="en-IN" dirty="0"/>
              <a:t>Luxury Vehicles (Jaguar Land Rover) </a:t>
            </a:r>
          </a:p>
          <a:p>
            <a:r>
              <a:rPr lang="en-IN" dirty="0"/>
              <a:t>Tata Motors is recognized for innovation, sustainability initiatives, and its contribution to the growth of the Indian automotive industry.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→ Power Query → Data Model → DAX → Dashboard →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Insert dashboard screenshot.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7F2D7-916C-7E61-B6F4-BCB337329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962" t="6560" r="-5682" b="-20204"/>
          <a:stretch>
            <a:fillRect/>
          </a:stretch>
        </p:blipFill>
        <p:spPr>
          <a:xfrm>
            <a:off x="0" y="17145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trend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F74DE-7F2D-5C03-A8C5-F8907F04B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35" y="1417638"/>
            <a:ext cx="8017329" cy="4276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Profit trend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0CCFA-4791-154C-C668-F3163E461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1" y="1491002"/>
            <a:ext cx="8017329" cy="4509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flow trend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D896D-AA40-03D8-6132-40243B27B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35" y="1551214"/>
            <a:ext cx="7560129" cy="42525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Key Findings</a:t>
            </a:r>
          </a:p>
          <a:p>
            <a:r>
              <a:rPr lang="en-IN" dirty="0"/>
              <a:t>Revenue increased from </a:t>
            </a:r>
            <a:r>
              <a:rPr lang="en-IN" b="1" dirty="0"/>
              <a:t>₹255,552 Cr (FY21)</a:t>
            </a:r>
            <a:r>
              <a:rPr lang="en-IN" dirty="0"/>
              <a:t> to </a:t>
            </a:r>
            <a:r>
              <a:rPr lang="en-IN" b="1" dirty="0"/>
              <a:t>₹447,107 Cr (FY25)</a:t>
            </a:r>
            <a:r>
              <a:rPr lang="en-IN" dirty="0"/>
              <a:t>, indicating strong business growth. </a:t>
            </a:r>
          </a:p>
          <a:p>
            <a:r>
              <a:rPr lang="en-IN" dirty="0"/>
              <a:t>Net Profit improved from losses in FY21 and FY22 to positive profitability from FY23 onward. </a:t>
            </a:r>
          </a:p>
          <a:p>
            <a:r>
              <a:rPr lang="en-IN" dirty="0"/>
              <a:t>Operating Cash Flow increased consistently, demonstrating improved liquidity and financial stability. </a:t>
            </a:r>
          </a:p>
          <a:p>
            <a:r>
              <a:rPr lang="en-IN" dirty="0"/>
              <a:t>Total Assets grew from </a:t>
            </a:r>
            <a:r>
              <a:rPr lang="en-IN" b="1" dirty="0"/>
              <a:t>₹320,000 Cr</a:t>
            </a:r>
            <a:r>
              <a:rPr lang="en-IN" dirty="0"/>
              <a:t> to </a:t>
            </a:r>
            <a:r>
              <a:rPr lang="en-IN" b="1" dirty="0"/>
              <a:t>₹440,000 Cr</a:t>
            </a:r>
            <a:r>
              <a:rPr lang="en-IN" dirty="0"/>
              <a:t>, reflecting organizational expansion and investment. </a:t>
            </a:r>
          </a:p>
          <a:p>
            <a:r>
              <a:rPr lang="en-IN" dirty="0"/>
              <a:t>Employee strength increased steadily, supporting business growth and operational capacity. </a:t>
            </a:r>
          </a:p>
          <a:p>
            <a:r>
              <a:rPr lang="en-IN" dirty="0"/>
              <a:t>Interactive Power BI dashboards simplified financial analysis and improved reporting efficiency. </a:t>
            </a:r>
          </a:p>
          <a:p>
            <a:r>
              <a:rPr lang="en-IN" b="1" dirty="0"/>
              <a:t>Business Insights</a:t>
            </a:r>
          </a:p>
          <a:p>
            <a:r>
              <a:rPr lang="en-IN" dirty="0"/>
              <a:t>Tata Motors showed significant recovery and growth during the study period. </a:t>
            </a:r>
          </a:p>
          <a:p>
            <a:r>
              <a:rPr lang="en-IN" dirty="0"/>
              <a:t>Financial performance improved due to better profitability and cash flow management. </a:t>
            </a:r>
          </a:p>
          <a:p>
            <a:r>
              <a:rPr lang="en-IN" dirty="0"/>
              <a:t>Visual analytics enabled faster identification of trends and performance patterns. </a:t>
            </a:r>
          </a:p>
          <a:p>
            <a:r>
              <a:rPr lang="en-IN" dirty="0"/>
              <a:t>Power BI proved effective for financial reporting and data-driven decision-making.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Power BI improved financial reporting and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82805-AD8D-9DA9-D07E-14B3A0F46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1600200"/>
            <a:ext cx="7609114" cy="42801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Integration of </a:t>
            </a:r>
            <a:r>
              <a:rPr lang="en-IN" b="1" dirty="0"/>
              <a:t>real-time financial data sources</a:t>
            </a:r>
            <a:r>
              <a:rPr lang="en-IN" dirty="0"/>
              <a:t> for live reporting. </a:t>
            </a:r>
          </a:p>
          <a:p>
            <a:r>
              <a:rPr lang="en-IN" dirty="0"/>
              <a:t>Implementation of </a:t>
            </a:r>
            <a:r>
              <a:rPr lang="en-IN" b="1" dirty="0"/>
              <a:t>Artificial Intelligence (AI)</a:t>
            </a:r>
            <a:r>
              <a:rPr lang="en-IN" dirty="0"/>
              <a:t> for financial forecasting. </a:t>
            </a:r>
          </a:p>
          <a:p>
            <a:r>
              <a:rPr lang="en-IN" dirty="0"/>
              <a:t>Use of </a:t>
            </a:r>
            <a:r>
              <a:rPr lang="en-IN" b="1" dirty="0"/>
              <a:t>Machine Learning models</a:t>
            </a:r>
            <a:r>
              <a:rPr lang="en-IN" dirty="0"/>
              <a:t> to predict revenue, profit, and cash flow trends. </a:t>
            </a:r>
          </a:p>
          <a:p>
            <a:r>
              <a:rPr lang="en-IN" dirty="0"/>
              <a:t>Development of </a:t>
            </a:r>
            <a:r>
              <a:rPr lang="en-IN" b="1" dirty="0"/>
              <a:t>automated reporting systems</a:t>
            </a:r>
            <a:r>
              <a:rPr lang="en-IN" dirty="0"/>
              <a:t> to reduce manual effort. </a:t>
            </a:r>
          </a:p>
          <a:p>
            <a:r>
              <a:rPr lang="en-IN" dirty="0"/>
              <a:t>Integration with </a:t>
            </a:r>
            <a:r>
              <a:rPr lang="en-IN" b="1" dirty="0"/>
              <a:t>cloud-based analytics platforms</a:t>
            </a:r>
            <a:r>
              <a:rPr lang="en-IN" dirty="0"/>
              <a:t> for enterprise-wide access. </a:t>
            </a:r>
          </a:p>
          <a:p>
            <a:r>
              <a:rPr lang="en-IN" dirty="0"/>
              <a:t>Mobile-friendly dashboards for anytime, anywhere access. </a:t>
            </a:r>
          </a:p>
          <a:p>
            <a:r>
              <a:rPr lang="en-IN" dirty="0"/>
              <a:t>Advanced predictive analytics for strategic business planning. </a:t>
            </a:r>
          </a:p>
          <a:p>
            <a:r>
              <a:rPr lang="en-IN" dirty="0"/>
              <a:t>Expansion of the dashboard to include competitor and market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References</a:t>
            </a:r>
          </a:p>
          <a:p>
            <a:r>
              <a:rPr lang="en-IN" dirty="0"/>
              <a:t>Tata Motors Annual Report 2021 </a:t>
            </a:r>
          </a:p>
          <a:p>
            <a:r>
              <a:rPr lang="en-IN" dirty="0"/>
              <a:t>Tata Motors Annual Report 2022 </a:t>
            </a:r>
          </a:p>
          <a:p>
            <a:r>
              <a:rPr lang="en-IN" dirty="0"/>
              <a:t>Tata Motors Annual Report 2023 </a:t>
            </a:r>
          </a:p>
          <a:p>
            <a:r>
              <a:rPr lang="en-IN" dirty="0"/>
              <a:t>Tata Motors Annual Report 2024 </a:t>
            </a:r>
          </a:p>
          <a:p>
            <a:r>
              <a:rPr lang="en-IN" dirty="0"/>
              <a:t>Tata Motors Annual Report 2025 </a:t>
            </a:r>
          </a:p>
          <a:p>
            <a:r>
              <a:rPr lang="en-IN" dirty="0"/>
              <a:t>Microsoft Power BI Documentation </a:t>
            </a:r>
          </a:p>
          <a:p>
            <a:r>
              <a:rPr lang="en-IN" dirty="0"/>
              <a:t>Microsoft Learn - Power BI </a:t>
            </a:r>
          </a:p>
          <a:p>
            <a:r>
              <a:rPr lang="en-IN" dirty="0">
                <a:hlinkClick r:id="rId2"/>
              </a:rPr>
              <a:t>DAX Guide</a:t>
            </a:r>
            <a:r>
              <a:rPr lang="en-IN" dirty="0"/>
              <a:t> </a:t>
            </a:r>
          </a:p>
          <a:p>
            <a:r>
              <a:rPr lang="en-IN" dirty="0">
                <a:hlinkClick r:id="rId3"/>
              </a:rPr>
              <a:t>SQLBI Resources</a:t>
            </a:r>
            <a:r>
              <a:rPr lang="en-IN" dirty="0"/>
              <a:t> </a:t>
            </a:r>
          </a:p>
          <a:p>
            <a:r>
              <a:rPr lang="en-IN" dirty="0"/>
              <a:t>K.R. Subramanyam, </a:t>
            </a:r>
            <a:r>
              <a:rPr lang="en-IN" i="1" dirty="0"/>
              <a:t>Financial Statement Analysis</a:t>
            </a:r>
            <a:r>
              <a:rPr lang="en-IN" dirty="0"/>
              <a:t> </a:t>
            </a:r>
          </a:p>
          <a:p>
            <a:r>
              <a:rPr lang="en-IN" dirty="0"/>
              <a:t>Fundamentals of Data Visualization </a:t>
            </a:r>
          </a:p>
          <a:p>
            <a:r>
              <a:rPr lang="en-IN" dirty="0"/>
              <a:t>Business Intelligence Concepts and Technology </a:t>
            </a:r>
          </a:p>
          <a:p>
            <a:r>
              <a:rPr lang="en-IN" dirty="0"/>
              <a:t>Data Mining: Concepts and Techniques </a:t>
            </a:r>
          </a:p>
          <a:p>
            <a:r>
              <a:rPr lang="en-IN" dirty="0"/>
              <a:t>Corporate Finance Principles </a:t>
            </a:r>
          </a:p>
          <a:p>
            <a:r>
              <a:rPr lang="en-IN" dirty="0"/>
              <a:t>Financial Analytics and Business Intelligence Resources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9256" y="274638"/>
            <a:ext cx="1567543" cy="45719"/>
          </a:xfrm>
        </p:spPr>
        <p:txBody>
          <a:bodyPr>
            <a:normAutofit fontScale="90000"/>
          </a:bodyPr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3164"/>
            <a:ext cx="8229600" cy="53130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THANK YOU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Financial Performance and Cash Flow Analysis</a:t>
            </a:r>
            <a:br>
              <a:rPr lang="en-IN" dirty="0"/>
            </a:br>
            <a:r>
              <a:rPr lang="en-IN" dirty="0"/>
              <a:t>of Tata Motors</a:t>
            </a:r>
            <a:br>
              <a:rPr lang="en-IN" dirty="0"/>
            </a:br>
            <a:r>
              <a:rPr lang="en-IN" dirty="0"/>
              <a:t>Using Microsoft Power BI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Presented By</a:t>
            </a:r>
            <a:br>
              <a:rPr lang="en-IN" dirty="0"/>
            </a:br>
            <a:r>
              <a:rPr lang="en-IN" dirty="0"/>
              <a:t>Syeda Nasreen Minaaz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MSc (Data Science)</a:t>
            </a:r>
            <a:br>
              <a:rPr lang="en-IN" dirty="0"/>
            </a:br>
            <a:r>
              <a:rPr lang="en-IN" dirty="0"/>
              <a:t>Chandigarh University</a:t>
            </a:r>
            <a:br>
              <a:rPr lang="en-IN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837</Words>
  <Application>Microsoft Office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Financial Performance and Cash Flow Analysis of Tata Motors Using Microsoft Power BI</vt:lpstr>
      <vt:lpstr>Introduction</vt:lpstr>
      <vt:lpstr>Problem Statement</vt:lpstr>
      <vt:lpstr>Objectives</vt:lpstr>
      <vt:lpstr>Dataset</vt:lpstr>
      <vt:lpstr>System Architecture</vt:lpstr>
      <vt:lpstr>Dashboard Overview</vt:lpstr>
      <vt:lpstr>Revenue Analysis</vt:lpstr>
      <vt:lpstr>Profit Analysis</vt:lpstr>
      <vt:lpstr>Cash Flow Analysis</vt:lpstr>
      <vt:lpstr>Results</vt:lpstr>
      <vt:lpstr>Conclusion</vt:lpstr>
      <vt:lpstr>Future Scope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EDC-2021-294 Nasreen Minaaz</cp:lastModifiedBy>
  <cp:revision>2</cp:revision>
  <dcterms:created xsi:type="dcterms:W3CDTF">2013-01-27T09:14:16Z</dcterms:created>
  <dcterms:modified xsi:type="dcterms:W3CDTF">2026-07-06T00:48:43Z</dcterms:modified>
  <cp:category/>
</cp:coreProperties>
</file>